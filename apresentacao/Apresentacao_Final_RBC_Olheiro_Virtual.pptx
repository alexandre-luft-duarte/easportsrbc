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226e317c1a4648" /><Relationship Type="http://schemas.openxmlformats.org/officeDocument/2006/relationships/extended-properties" Target="/docProps/app.xml" Id="Rf059c820034f42cb" /><Relationship Type="http://schemas.openxmlformats.org/officeDocument/2006/relationships/officeDocument" Target="/ppt/presentation.xml" Id="Rdf097d532ad84f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05dae1832d442c"/>
  </p:sldMasterIdLst>
  <p:notesMasterIdLst>
    <p:notesMasterId xmlns:r="http://schemas.openxmlformats.org/officeDocument/2006/relationships" r:id="Rd910837089eb47c4"/>
  </p:notesMasterIdLst>
  <p:sldIdLst>
    <p:sldId xmlns:r="http://schemas.openxmlformats.org/officeDocument/2006/relationships" id="256" r:id="R7972573f30814369"/>
    <p:sldId xmlns:r="http://schemas.openxmlformats.org/officeDocument/2006/relationships" id="257" r:id="R6f7140dc19154e2e"/>
    <p:sldId xmlns:r="http://schemas.openxmlformats.org/officeDocument/2006/relationships" id="258" r:id="R81c18cbf509643a9"/>
    <p:sldId xmlns:r="http://schemas.openxmlformats.org/officeDocument/2006/relationships" id="259" r:id="R697ec06620214da9"/>
    <p:sldId xmlns:r="http://schemas.openxmlformats.org/officeDocument/2006/relationships" id="260" r:id="Rdf3b8ed6efb34d90"/>
    <p:sldId xmlns:r="http://schemas.openxmlformats.org/officeDocument/2006/relationships" id="261" r:id="R539924fcd4564345"/>
    <p:sldId xmlns:r="http://schemas.openxmlformats.org/officeDocument/2006/relationships" id="262" r:id="R2386595e4a2d4729"/>
    <p:sldId xmlns:r="http://schemas.openxmlformats.org/officeDocument/2006/relationships" id="263" r:id="Ra1ff6a64ce864bdf"/>
    <p:sldId xmlns:r="http://schemas.openxmlformats.org/officeDocument/2006/relationships" id="264" r:id="R77482d3a5c0f4875"/>
    <p:sldId xmlns:r="http://schemas.openxmlformats.org/officeDocument/2006/relationships" id="265" r:id="R876d748596e94d05"/>
    <p:sldId xmlns:r="http://schemas.openxmlformats.org/officeDocument/2006/relationships" id="266" r:id="Re0af6618d7f14f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defb37a5c44bec" /><Relationship Type="http://schemas.openxmlformats.org/officeDocument/2006/relationships/slideMaster" Target="/ppt/slideMasters/slideMaster1.xml" Id="Rdf05dae1832d442c" /><Relationship Type="http://schemas.openxmlformats.org/officeDocument/2006/relationships/notesMaster" Target="/ppt/notesMasters/notesMaster1.xml" Id="Rd910837089eb47c4" /><Relationship Type="http://schemas.openxmlformats.org/officeDocument/2006/relationships/presProps" Target="/ppt/presProps.xml" Id="Rb04767489ba14812" /><Relationship Type="http://schemas.openxmlformats.org/officeDocument/2006/relationships/tableStyles" Target="/ppt/tableStyles.xml" Id="R829afe5d15174856" /><Relationship Type="http://schemas.openxmlformats.org/officeDocument/2006/relationships/slide" Target="/ppt/slides/slide1.xml" Id="R7972573f30814369" /><Relationship Type="http://schemas.openxmlformats.org/officeDocument/2006/relationships/slide" Target="/ppt/slides/slide2.xml" Id="R6f7140dc19154e2e" /><Relationship Type="http://schemas.openxmlformats.org/officeDocument/2006/relationships/slide" Target="/ppt/slides/slide3.xml" Id="R81c18cbf509643a9" /><Relationship Type="http://schemas.openxmlformats.org/officeDocument/2006/relationships/slide" Target="/ppt/slides/slide4.xml" Id="R697ec06620214da9" /><Relationship Type="http://schemas.openxmlformats.org/officeDocument/2006/relationships/slide" Target="/ppt/slides/slide5.xml" Id="Rdf3b8ed6efb34d90" /><Relationship Type="http://schemas.openxmlformats.org/officeDocument/2006/relationships/slide" Target="/ppt/slides/slide6.xml" Id="R539924fcd4564345" /><Relationship Type="http://schemas.openxmlformats.org/officeDocument/2006/relationships/slide" Target="/ppt/slides/slide7.xml" Id="R2386595e4a2d4729" /><Relationship Type="http://schemas.openxmlformats.org/officeDocument/2006/relationships/slide" Target="/ppt/slides/slide8.xml" Id="Ra1ff6a64ce864bdf" /><Relationship Type="http://schemas.openxmlformats.org/officeDocument/2006/relationships/slide" Target="/ppt/slides/slide9.xml" Id="R77482d3a5c0f4875" /><Relationship Type="http://schemas.openxmlformats.org/officeDocument/2006/relationships/slide" Target="/ppt/slides/slide10.xml" Id="R876d748596e94d05" /><Relationship Type="http://schemas.openxmlformats.org/officeDocument/2006/relationships/slide" Target="/ppt/slides/slide11.xml" Id="Re0af6618d7f14f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85919fbd944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27656e1f0e49a0" /><Relationship Type="http://schemas.openxmlformats.org/officeDocument/2006/relationships/notesMaster" Target="/ppt/notesMasters/notesMaster1.xml" Id="Ra2bbb3840f7f44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5ef4c6b9b54339" /><Relationship Type="http://schemas.openxmlformats.org/officeDocument/2006/relationships/notesMaster" Target="/ppt/notesMasters/notesMaster1.xml" Id="R128726589c244c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2952304dd4788" /><Relationship Type="http://schemas.openxmlformats.org/officeDocument/2006/relationships/notesMaster" Target="/ppt/notesMasters/notesMaster1.xml" Id="R670e01facd6a42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b1e940b0da44c8" /><Relationship Type="http://schemas.openxmlformats.org/officeDocument/2006/relationships/notesMaster" Target="/ppt/notesMasters/notesMaster1.xml" Id="R16fbfb1957b94b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54540f379848a6" /><Relationship Type="http://schemas.openxmlformats.org/officeDocument/2006/relationships/notesMaster" Target="/ppt/notesMasters/notesMaster1.xml" Id="Rf48f8c8d8d3341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1dae32e4ac4c3c" /><Relationship Type="http://schemas.openxmlformats.org/officeDocument/2006/relationships/notesMaster" Target="/ppt/notesMasters/notesMaster1.xml" Id="R5967d6789dba45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d0f7a92ee74014" /><Relationship Type="http://schemas.openxmlformats.org/officeDocument/2006/relationships/notesMaster" Target="/ppt/notesMasters/notesMaster1.xml" Id="Rac23131e896141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9eb9067187467a" /><Relationship Type="http://schemas.openxmlformats.org/officeDocument/2006/relationships/notesMaster" Target="/ppt/notesMasters/notesMaster1.xml" Id="R1fd55764bb0349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6e1c619f2c46cd" /><Relationship Type="http://schemas.openxmlformats.org/officeDocument/2006/relationships/notesMaster" Target="/ppt/notesMasters/notesMaster1.xml" Id="Rf2a6129ea9454c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7641e2656c4c02" /><Relationship Type="http://schemas.openxmlformats.org/officeDocument/2006/relationships/notesMaster" Target="/ppt/notesMasters/notesMaster1.xml" Id="R1a34bfa094db46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76a2fb8fda4d77" /><Relationship Type="http://schemas.openxmlformats.org/officeDocument/2006/relationships/notesMaster" Target="/ppt/notesMasters/notesMaster1.xml" Id="R87875433be804c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problema antes da tecnologia: encontrar alternativas tecnicamente semelhantes que caibam no orçamento do clube.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Associe explicitamente: problema = perfil desejado + orçamento; solução = lista de jogadores similares e acessíveis.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implementação à definição da aula: caso = descrição do problema + solução, enriquecido por resultado e lições aprendidas.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main.py apenas orquestra o ciclo; cada R possui uma função pública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a decisão de projeto: filtrar primeiro preserva k sugestões acionáveis. O total de 17.041 deriva da limpeza de players_22.csv.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aula destaca normalização e escolha de métrica. O projeto usa pesos iguais; uma evolução seria permitir pesos por posição.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remover goleiros é uma decisão de modelagem: eles usam atributos específicos e não devem ser comparados com jogadores de linha nesses seis eixos.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calculados diretamente sobre players_22.csv, com MinMax e distância euclidiana, usando o perfil da demonstração sugerida no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vai além de apenas gravar o caso: a memória influencia buscas futuras quando o novo perfil é semelhante ao perfil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perguntarem sobre validação: há dois testes unitários para reforço e penalização da memória. Neste ambiente, eles não rodaram por ausência do scikit-learn.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retomando a promessa da capa: uma decisão explicável e incremental, não uma caixa-preta. Sugira pesos por posição e P@k como continuidade natural.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RBC-Raciocinio-Baseado-em-Casos.pdf (material da aula)</a:t>
            </a:r>
          </a:p>
          <a:p xmlns:a="http://schemas.openxmlformats.org/drawingml/2006/main">
            <a:r>
              <a:t>- README.md e código-fonte do projeto Olheiro Virtual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6b428ba6e43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bb6e1219f441ce" /><Relationship Type="http://schemas.openxmlformats.org/officeDocument/2006/relationships/slideLayout" Target="/ppt/slideLayouts/slideLayout1.xml" Id="Rce1b62bde41b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1b62bde41b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3e878a54c4ee0" /><Relationship Type="http://schemas.openxmlformats.org/officeDocument/2006/relationships/notesSlide" Target="/ppt/notesSlides/notesSlide1.xml" Id="R259128e4185848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55ec1f81f4879" /><Relationship Type="http://schemas.openxmlformats.org/officeDocument/2006/relationships/notesSlide" Target="/ppt/notesSlides/notesSlide2.xml" Id="R21dc7a0a611341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89017323c448b" /><Relationship Type="http://schemas.openxmlformats.org/officeDocument/2006/relationships/notesSlide" Target="/ppt/notesSlides/notesSlide3.xml" Id="R535605990e1041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1dbb5572e4a37" /><Relationship Type="http://schemas.openxmlformats.org/officeDocument/2006/relationships/notesSlide" Target="/ppt/notesSlides/notesSlide4.xml" Id="Rbe9e61b3f2904e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5f2e5e174633" /><Relationship Type="http://schemas.openxmlformats.org/officeDocument/2006/relationships/notesSlide" Target="/ppt/notesSlides/notesSlide5.xml" Id="R179f2b1166eb49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1f9bc3ed5491e" /><Relationship Type="http://schemas.openxmlformats.org/officeDocument/2006/relationships/notesSlide" Target="/ppt/notesSlides/notesSlide6.xml" Id="R360199bb131c41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15f15ea3a42a7" /><Relationship Type="http://schemas.openxmlformats.org/officeDocument/2006/relationships/notesSlide" Target="/ppt/notesSlides/notesSlide7.xml" Id="Rc81c885763074e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64e3f2f56444d" /><Relationship Type="http://schemas.openxmlformats.org/officeDocument/2006/relationships/notesSlide" Target="/ppt/notesSlides/notesSlide8.xml" Id="R67beb03a8a3240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931a8a63c4af5" /><Relationship Type="http://schemas.openxmlformats.org/officeDocument/2006/relationships/notesSlide" Target="/ppt/notesSlides/notesSlide9.xml" Id="R35875fa5b43645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32ffd8a044c71" /><Relationship Type="http://schemas.openxmlformats.org/officeDocument/2006/relationships/notesSlide" Target="/ppt/notesSlides/notesSlide10.xml" Id="Re607db9a9b2d44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e0c9bd8e84444" /><Relationship Type="http://schemas.openxmlformats.org/officeDocument/2006/relationships/notesSlide" Target="/ppt/notesSlides/notesSlide11.xml" Id="Rfa98c906d5d5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EC0AC-CB85-4703-9394-1FFD666F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INTELIGÊNCIA ARTIFICIAL APLICADA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6EDBA-3AE8-469D-A1DA-BDE82C5C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Olheiro Virtual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D22B5-3492-458D-A303-9E6A2BAE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Raciocínio Baseado em Casos para recomendação de contratações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1193B-F412-4CC6-B21A-C7F9F4D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012DE-361D-4160-BD60-6CBB0D7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Da experiência passada à decisão explicável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D8F46-0B85-4E43-A98E-886068CD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Projeto prático • Python • FIFA 15–22</a:t>
            </a:r>
          </a:p>
        </p:txBody>
      </p:sp>
    </p:spTree>
    <p:extLst>
      <p:ext uri="{BB962C8B-B14F-4D97-AF65-F5344CB8AC3E}">
        <p14:creationId xmlns:p14="http://schemas.microsoft.com/office/powerpoint/2010/main" val="11608789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75BF8E-64D5-42BB-A391-45DEE95D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projeto transforma uma restrição real em um problema de RBC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2FF5E-6A5C-4D2D-B693-FC60202D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DB72-01B4-439E-8F5E-7A97E93F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PROBLEMA NOVO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087EE-C05D-4B38-A1AD-5240282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clube deseja um jogador com um perfil técnico específico, mas o atleta ideal é caro demais.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6B1E5-A999-4FF1-B2CA-E2FDA78F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3149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BCA18-1EFC-4EFA-A9F3-534555B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SOLUÇÃO PROPOSTA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F1472-86A7-462A-AC9D-DB7FE701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E8F5C-2C6A-48E1-8799-54046991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Filtrar quem cabe no orçamento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ACFB0-3DB4-42F8-9A4F-E96A7D0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670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F0510-DA78-4954-ABB4-3A346E56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Recuperar os perfis mais parecidos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F6D7A-322A-4C23-B821-A304A820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0EB3A-2E32-4187-852C-F76E279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Explicar diferenças e aprender com o olheiro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C737E-7D23-4CDE-B998-DA9430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Resultado: recomendações viáveis, comparáveis e auditáveis.</a:t>
            </a:r>
          </a:p>
        </p:txBody>
      </p:sp>
    </p:spTree>
    <p:extLst>
      <p:ext uri="{BB962C8B-B14F-4D97-AF65-F5344CB8AC3E}">
        <p14:creationId xmlns:p14="http://schemas.microsoft.com/office/powerpoint/2010/main" val="5304515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AA0BC0-86E8-484F-9BD0-3A9E669F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jogador funciona como um caso legível e auditável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F91B2-BBBF-4A8A-8698-A190B1B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5F8C7-5B52-4987-9E65-5C7A3C37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143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7C2F8-DE19-4CD8-ABB1-51854AE6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PROBLEMA / DESCRIÇÃO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EE125-07B0-4586-BD5C-0CA8E25E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 atributos técnicos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6E036-E901-44A2-B852-EA1E477A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velocidade • chute • passe</a:t>
            </a:r>
          </a:p>
          <a:p xmlns:a="http://schemas.openxmlformats.org/drawingml/2006/main">
            <a:pPr algn="l"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drible • defesa • físico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3075C-EC68-46A4-9DB0-5CA3707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restrição de orçamento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37088-EC52-4C87-ABA2-CB9D99E8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24000"/>
            <a:ext cx="5143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2E523-FA86-4949-971F-2705868F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57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SOLUÇÃO / RESPOSTA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EC193-9390-4F68-91F0-B431024A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Jogadores recuperados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A5DEF-12B1-4041-86C9-080DD523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03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nome • valor • distância</a:t>
            </a:r>
          </a:p>
          <a:p xmlns:a="http://schemas.openxmlformats.org/drawingml/2006/main">
            <a:pPr algn="l"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similaridade • ficha • deltas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4C7BB-A1A2-48AE-B267-62B6EC1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29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avaliação do especialista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3CAC8-9221-4D70-8059-1AE6D7FF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24250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78787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F4240F-8D4E-4671-AFCA-E29BFE9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Os quatro Rs aparecem no fluxo e na arquitetura do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1FDF5-545E-4E67-BFB0-951BBE62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A68BD-528B-4F2D-83A6-A0602120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F0296-90A0-4B95-AF4B-219CC86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698ED-17D7-47B2-83E2-0F2B3D7E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1. Recuperar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3853B-7FFA-4A12-B3E2-74D29A77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Orçamento → KNN → ranking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18858-E705-4B46-AF85-16D76A18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r1_recuperacao.py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D13E3-0816-471C-A429-1F41FF25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38375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58528-822E-4D92-922C-E9471342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2. Reutilizar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6984A-8F6C-4C5A-85DB-D1EF4514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Deltas técnicos e economia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286A2-D278-423E-9E7D-846C9120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r2_reutilizacao.py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313E9-CCBD-4DAA-B26E-6C1634D4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697FC-D694-4499-AE90-BB372A76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3. Revisar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4E92A-8273-4287-A99A-8E390A8F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Olheiro aprova ou rejeita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08BE8-D5EF-45CF-BCD9-E355C6E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r3_revisao.py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497DF-90BC-4741-8CA4-33402B02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38375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C71DA-1EF3-44E2-B152-DCA1E84E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28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4. Reter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30FF0-5B5C-46EB-8144-5157B6B0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0512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JSON persiste sucesso e falha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C33B9-5EB1-4A43-A210-AFB68B0A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r4_retencao.py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89428-FB99-4BAF-A760-3646498B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86375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separação por módulos torna o ciclo didaticamente visível e facilita evoluir cada etapa.</a:t>
            </a:r>
          </a:p>
        </p:txBody>
      </p:sp>
    </p:spTree>
    <p:extLst>
      <p:ext uri="{BB962C8B-B14F-4D97-AF65-F5344CB8AC3E}">
        <p14:creationId xmlns:p14="http://schemas.microsoft.com/office/powerpoint/2010/main" val="15481354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51F1A5-624C-4734-869D-7DC23F5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Filtrar antes do KNN garante recomendações que o clube pode contratar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BDB9C-FC3C-4BCA-9A24-872B4FB2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89C8C-67FE-43FA-878C-077995B9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 FIFA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27B87-60F4-4C1F-81A2-F9554F7E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17.041 casos válidos</a:t>
            </a:r>
          </a:p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na temporada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A8650-9785-401B-BE68-D5822A5C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146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B8242-3C9C-4A0A-83D7-BC1E079E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A87F2-BA3F-4F87-B4C0-6020EDC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Filtro de orçamento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66923-FA3C-44E8-8A4F-E7D61FCF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restrição dura aplicada</a:t>
            </a:r>
          </a:p>
          <a:p xmlns:a="http://schemas.openxmlformats.org/drawingml/2006/main">
            <a:pPr algn="l"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antes da similaridade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89AFF-DD21-4794-AD9E-087CA85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3937A-457D-40CB-BEE9-7C1D6A11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D1C5C-0E94-4B8B-8683-9A19966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 vizinhos viáveis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895F8-149C-46C2-96A9-1C52B3B8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nenhuma posição do ranking é desperdiçada com craques impagáveis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E5D4A-4C64-4ED4-876A-3EF819BD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9625"/>
            <a:ext cx="866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 o filtro viesse depois, os vizinhos mais próximos poderiam ser inviáveis e reduzir a utilidade da resposta.</a:t>
            </a:r>
          </a:p>
        </p:txBody>
      </p:sp>
    </p:spTree>
    <p:extLst>
      <p:ext uri="{BB962C8B-B14F-4D97-AF65-F5344CB8AC3E}">
        <p14:creationId xmlns:p14="http://schemas.microsoft.com/office/powerpoint/2010/main" val="18717004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A41D09-569E-45F1-BAD8-320AA702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similaridade é calculada no mesmo espaço normalizado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B8F41-709B-4E2A-97CC-64D25914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15094-1C4C-4003-A387-77C4D4BA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CA094-0BB3-48F3-B67A-0180A1A9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1163E-FF6C-4A69-9A69-83D05501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[vel, chu, pas, dri, def, fis]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5962E-F323-43DD-8B14-B6D0C038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668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EC037-AA69-441C-998B-87452B71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3B5F2-D01E-47C6-93DD-A9D48B7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00375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MinMaxScaler leva cada eixo a [0,1]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41DAF-7E36-42C7-8BC1-02A89103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668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6817D-CD74-4CD2-A41C-1DF4895B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F8AF9-DB89-4E42-B99E-088A11A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0375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Euclidiana mede a proximidade global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4C76A-0E7D-4E0E-8EE7-CD6E31B4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6668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3A0B9-AD8B-4B2A-A373-0E7868D7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Similaridade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299F3-357B-4D24-BDEA-7E993D9B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00375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sim = 1 / (1 + d)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BC96C-E776-4126-9429-AB53354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0F205-649C-4BE8-AC00-2FA798BA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Por que normalizar?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E4C16-A9EC-4DEA-8BFB-37E2F061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Sem a mesma escala, um atributo com maior amplitude dominaria a distância e distorceria a noção de parecido.</a:t>
            </a:r>
          </a:p>
        </p:txBody>
      </p:sp>
    </p:spTree>
    <p:extLst>
      <p:ext uri="{BB962C8B-B14F-4D97-AF65-F5344CB8AC3E}">
        <p14:creationId xmlns:p14="http://schemas.microsoft.com/office/powerpoint/2010/main" val="19359507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3ABDE5-845B-4B06-8EEA-302A2830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base cobre oito temporadas e a limpeza respeita o domínio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726F9-BD4D-4C87-B836-848450E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6179-C309-46D8-A627-02CB9A42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61294-D2AD-4D3C-9DCF-A1C60DEA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0D98E-C093-458D-8DBC-20EF3B4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28CDC-385A-43AB-A1BA-EBB07A1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temporadas: FIFA 15 a FIFA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FDD5E-2369-4BAA-B104-1A6F6B24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328E2-0C65-455B-8212-CF4ED4DA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E4207-D198-4F0D-B0D8-E0622809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19.239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4E694-5FB7-42E5-95A4-F4E0CE3E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7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registros brutos em players_22.csv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1FBB1-E370-4961-A2BB-BD101428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9D3CE-D9EE-48CC-B98E-EE32A14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1BB95-3456-44C8-A459-927A6328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17.041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6D95B-7699-40D2-9D04-6D43977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jogadores de linha apó a limpeza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5BC3A-80A0-4E5A-B0F1-E05D66A3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2.198 goleiros ou registros incompletos são removidos porque não possuem os seis macroatributos comparáveis.</a:t>
            </a:r>
          </a:p>
        </p:txBody>
      </p:sp>
    </p:spTree>
    <p:extLst>
      <p:ext uri="{BB962C8B-B14F-4D97-AF65-F5344CB8AC3E}">
        <p14:creationId xmlns:p14="http://schemas.microsoft.com/office/powerpoint/2010/main" val="1684828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C80C20-4483-4EC6-BA11-A6BE79FD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Um orçamento de € 2 mi torna o contraste visível na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E291D-B461-4892-ADEE-7F575F3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0BEE8-2FB5-4DD1-A3E8-57A0DA11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Perfil-alvo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47F31-332B-4CDE-B724-7D3F4FAF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95 vel • 90 chu • 85 pas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93 dri • 35 def • 75 fis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0" y="1381125"/>
          <a:ext xmlns:a="http://schemas.openxmlformats.org/drawingml/2006/main" cx="702945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33750"/>
                <a:gridCol w="1714500"/>
                <a:gridCol w="1981200"/>
              </a:tblGrid>
              <a:tr h="635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Candidato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Valor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Similaridade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D. Quintero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€ 1,9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67,8%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G. Hauche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€ 2,0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67,1%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R. Krishna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€ 1,5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66,6%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I. Scocco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€ 1,9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66,6%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Carlitos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€ 2,0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</a:rPr>
                        <a:t>66,5%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E06E8-729C-4F15-92D1-823310EE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810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460FD-F450-4C85-B993-176275BE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Leitura do 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AE5CC-515F-4F08-BF0F-60A2F59A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Os nomes encontrados não reproduzem o craque ideal; mostram as melhores concessões técnicas dentro da realidade financeira.</a:t>
            </a:r>
          </a:p>
        </p:txBody>
      </p:sp>
    </p:spTree>
    <p:extLst>
      <p:ext uri="{BB962C8B-B14F-4D97-AF65-F5344CB8AC3E}">
        <p14:creationId xmlns:p14="http://schemas.microsoft.com/office/powerpoint/2010/main" val="19898631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CE336A-E9C3-4B09-908A-8AF2D588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especialista fecha o ciclo e transforma feedback em memória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3C549-E965-4B1D-B3D1-7C4A8F8B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AED1E-1162-41AA-97F6-932FEFDF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33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65E75-02AA-433B-BFAD-134D446E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E3E5B-55AD-442E-A81E-9F102BA8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olheiro escolhe um candidato ou rejeita toda a lista.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27370-E0FD-4248-B744-EDFD24B2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Nota e justificativa capturam o que os seis atributos não explicam.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C5C28-D7BC-45E3-8325-83C9FF31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422BA-0F50-42EB-8437-831471F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57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RETENÇÃO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57519-87D1-40CB-B8EC-80CD00B2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288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Sucesso e falha viram casos persistidos em JSON.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20DC0-6003-407A-89B1-2609BC0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05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Aprendizado incremental, imediato e legível por humanos.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15ADB-0BD1-46CB-9EB1-BB79DC4F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3333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1BA14-189E-4F2D-BECB-FB6C41A7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57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NOVA RECUPERAÇÃO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4377D-3F1C-4F25-97B7-70D1D0D9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Aprovações reforçam; rejeições penalizam o ranking.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F3ED2-A633-4FA3-90F5-87516972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0050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Experiências distantes não interferem na consulta atual.</a:t>
            </a:r>
          </a:p>
        </p:txBody>
      </p:sp>
    </p:spTree>
    <p:extLst>
      <p:ext uri="{BB962C8B-B14F-4D97-AF65-F5344CB8AC3E}">
        <p14:creationId xmlns:p14="http://schemas.microsoft.com/office/powerpoint/2010/main" val="6470257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EA2A38-4011-46E2-8F0A-8D6E0E39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entrega atende ao ciclo completo e deixa evoluções claras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200DB-C43B-4538-BC4C-94D32122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960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5905500"/>
                <a:gridCol w="2628900"/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Requisito da aula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Evidência no projeto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Situação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Base de dados prática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8 CSVs do FIFA / Kaggle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Atendido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Representação de casos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Dataclasses para problema, solução e avaliação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Atendido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Medida de similaridade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MinMax + Euclidiana + KNN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Atendido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Ciclo dos 4 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Quatro módulos e orquestração em main.py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Atendido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Aprendizagem incremental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Memória JSON altera o ranking futuro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Atendido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Avaliação quantitativa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</a:rPr>
                        <a:t>P@k / recall / comparação de métricas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7A5D00"/>
                          </a:solidFill>
                        </a:rPr>
                        <a:t>Próximo passo</a:t>
                      </a:r>
                    </a:p>
                  </a:txBody>
                  <a:tcPr marL="91440" marR="91440" marT="45720" marB="45720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02D53-3E63-4775-B73F-B42A394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Condição de execução: instalar as dependências de requirements.txt, incluindo scikit-learn.</a:t>
            </a:r>
          </a:p>
        </p:txBody>
      </p:sp>
    </p:spTree>
    <p:extLst>
      <p:ext uri="{BB962C8B-B14F-4D97-AF65-F5344CB8AC3E}">
        <p14:creationId xmlns:p14="http://schemas.microsoft.com/office/powerpoint/2010/main" val="6052323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467FF-4C25-4140-8CC2-1578061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CE95F-FF4A-4FC9-B161-72C2CDA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sistema recomenda, explica e aprende.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B7425-AE89-4410-A5D7-74123F30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8382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 base de casos fornece experiência.</a:t>
            </a:r>
          </a:p>
          <a:p xmlns:a="http://schemas.openxmlformats.org/drawingml/2006/main">
            <a:pPr algn="l">
              <a:defRPr sz="21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 similaridade encontra alternativas viáveis.</a:t>
            </a:r>
          </a:p>
          <a:p xmlns:a="http://schemas.openxmlformats.org/drawingml/2006/main">
            <a:pPr algn="l">
              <a:defRPr sz="21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 olheiro valida o que os números não capturam.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E2F51-0EC1-4F83-8D0F-BA493B6F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9B0ED-0542-45CB-B4E8-6319420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Próxima evolução: pesos por posição + avaliação P@k</a:t>
            </a:r>
          </a:p>
        </p:txBody>
      </p:sp>
    </p:spTree>
    <p:extLst>
      <p:ext uri="{BB962C8B-B14F-4D97-AF65-F5344CB8AC3E}">
        <p14:creationId xmlns:p14="http://schemas.microsoft.com/office/powerpoint/2010/main" val="308704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2026-08-21T14:58:23.7950000Z</dcterms:created>
  <dcterms:modified xsi:type="dcterms:W3CDTF">2026-08-21T14:58:23.7950000Z</dcterms:modified>
</coreProperties>
</file>